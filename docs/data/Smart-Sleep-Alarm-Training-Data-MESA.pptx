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leepdata.org/datasets/mesa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leepdata.org/datasets/mesa/pages/actigraphy-introduction.md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leepdata.org/datasets/mesa/pages/polysomnography-introduction.md" TargetMode="External" /><Relationship Id="rId3" Type="http://schemas.openxmlformats.org/officeDocument/2006/relationships/hyperlink" Target="https://sleepdata.org/datasets/mesa/pages/equipment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leepdata.org/datasets/mesa/variables/match5" TargetMode="External" /><Relationship Id="rId3" Type="http://schemas.openxmlformats.org/officeDocument/2006/relationships/hyperlink" Target="https://sleepdata.org/datasets/mesa/variables/match5" TargetMode="External" /><Relationship Id="rId4" Type="http://schemas.openxmlformats.org/officeDocument/2006/relationships/hyperlink" Target="https://sleepdata.org/datasets/mesa/variables/match5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leepdata.org/datasets/mesa" TargetMode="External" /><Relationship Id="rId3" Type="http://schemas.openxmlformats.org/officeDocument/2006/relationships/hyperlink" Target="https://sleepdata.org/datasets/mesa/pages/actigraphy-introduction.md" TargetMode="External" /><Relationship Id="rId4" Type="http://schemas.openxmlformats.org/officeDocument/2006/relationships/hyperlink" Target="https://sleepdata.org/datasets/mesa/pages/polysomnography-introduction.md" TargetMode="External" /><Relationship Id="rId5" Type="http://schemas.openxmlformats.org/officeDocument/2006/relationships/hyperlink" Target="https://sleepdata.org/datasets/mesa/pages/equipment" TargetMode="External" /><Relationship Id="rId6" Type="http://schemas.openxmlformats.org/officeDocument/2006/relationships/hyperlink" Target="https://sleepdata.org/datasets/mesa/variables/match5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Smart</a:t>
            </a:r>
            <a:r>
              <a:rPr/>
              <a:t> </a:t>
            </a:r>
            <a:r>
              <a:rPr/>
              <a:t>Sleep</a:t>
            </a:r>
            <a:r>
              <a:rPr/>
              <a:t> </a:t>
            </a:r>
            <a:r>
              <a:rPr/>
              <a:t>Alarm:</a:t>
            </a:r>
            <a:r>
              <a:rPr/>
              <a:t> </a:t>
            </a:r>
            <a:r>
              <a:rPr/>
              <a:t>Proposed</a:t>
            </a:r>
            <a:r>
              <a:rPr/>
              <a:t> </a:t>
            </a:r>
            <a:r>
              <a:rPr/>
              <a:t>Training</a:t>
            </a:r>
            <a:r>
              <a:rPr/>
              <a:t> </a:t>
            </a:r>
            <a:r>
              <a:rPr/>
              <a:t>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ABA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24</a:t>
            </a:r>
            <a:r>
              <a:rPr/>
              <a:t> </a:t>
            </a:r>
            <a:r>
              <a:rPr/>
              <a:t>August</a:t>
            </a:r>
            <a:r>
              <a:rPr/>
              <a:t> </a:t>
            </a: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training-data</a:t>
            </a:r>
            <a:r>
              <a:rPr/>
              <a:t> </a:t>
            </a:r>
            <a:r>
              <a:rPr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What must the model learn?</a:t>
            </a:r>
          </a:p>
          <a:p>
            <a:pPr lvl="1"/>
            <a:r>
              <a:rPr/>
              <a:t>Input: wearable-compatible movement and cardiovascular features in 30-second epochs.</a:t>
            </a:r>
          </a:p>
          <a:p>
            <a:pPr lvl="1"/>
            <a:r>
              <a:rPr/>
              <a:t>Target: </a:t>
            </a:r>
            <a:r>
              <a:rPr>
                <a:latin typeface="Courier"/>
              </a:rPr>
              <a:t>light</a:t>
            </a:r>
            <a:r>
              <a:rPr/>
              <a:t> versus </a:t>
            </a:r>
            <a:r>
              <a:rPr>
                <a:latin typeface="Courier"/>
              </a:rPr>
              <a:t>not_light</a:t>
            </a:r>
            <a:r>
              <a:rPr/>
              <a:t> sleep.</a:t>
            </a:r>
          </a:p>
          <a:p>
            <a:pPr lvl="1"/>
            <a:r>
              <a:rPr/>
              <a:t>Deployment target: Samsung Galaxy Watch4 accelerometer, heart rate, and inter-beat interval (IBI) data.</a:t>
            </a:r>
          </a:p>
          <a:p>
            <a:pPr lvl="1"/>
            <a:r>
              <a:rPr/>
              <a:t>Important: this is a wellness estimate, not a clinical diagnosis.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Proposed</a:t>
            </a:r>
            <a:r>
              <a:rPr/>
              <a:t> </a:t>
            </a:r>
            <a:r>
              <a:rPr/>
              <a:t>dataset:</a:t>
            </a:r>
            <a:r>
              <a:rPr/>
              <a:t> </a:t>
            </a:r>
            <a:r>
              <a:rPr/>
              <a:t>MESA</a:t>
            </a:r>
            <a:r>
              <a:rPr/>
              <a:t> </a:t>
            </a:r>
            <a:r>
              <a:rPr/>
              <a:t>Sleep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Why MESA Sleep?</a:t>
            </a:r>
          </a:p>
          <a:p>
            <a:pPr lvl="1"/>
            <a:r>
              <a:rPr/>
              <a:t>National Sleep Research Resource (NSRR) dataset from the NHLBI-supported Multi-Ethnic Study of Atherosclerosis.</a:t>
            </a:r>
          </a:p>
          <a:p>
            <a:pPr lvl="1"/>
            <a:r>
              <a:rPr/>
              <a:t>MESA Sleep enrolled </a:t>
            </a:r>
            <a:r>
              <a:rPr b="1"/>
              <a:t>2,237</a:t>
            </a:r>
            <a:r>
              <a:rPr/>
              <a:t> participants in a dedicated sleep exam.</a:t>
            </a:r>
          </a:p>
          <a:p>
            <a:pPr lvl="1"/>
            <a:r>
              <a:rPr/>
              <a:t>It includes full overnight polysomnography (PSG), seven-day wrist actigraphy, and sleep questionnaires.</a:t>
            </a:r>
          </a:p>
          <a:p>
            <a:pPr lvl="1"/>
            <a:r>
              <a:rPr/>
              <a:t>It offers the signal overlap we need: wrist movement, PSG sleep-stage reference labels, and ECG/heart-rate information.</a:t>
            </a:r>
          </a:p>
          <a:p>
            <a:pPr lvl="0" marL="0" indent="0">
              <a:buNone/>
            </a:pPr>
            <a:r>
              <a:rPr/>
              <a:t>Source: </a:t>
            </a:r>
            <a:r>
              <a:rPr>
                <a:hlinkClick r:id="rId2"/>
              </a:rPr>
              <a:t>NSRR MESA Sleep overview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Available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Movement: wrist actigraphy</a:t>
            </a:r>
          </a:p>
          <a:p>
            <a:pPr lvl="1"/>
            <a:r>
              <a:rPr/>
              <a:t>Actiwatch Spectrum worn on the non-dominant wrist for one week.</a:t>
            </a:r>
          </a:p>
          <a:p>
            <a:pPr lvl="1"/>
            <a:r>
              <a:rPr/>
              <a:t>Epoch-by-epoch files are available for </a:t>
            </a:r>
            <a:r>
              <a:rPr b="1"/>
              <a:t>2,159 participants</a:t>
            </a:r>
            <a:r>
              <a:rPr/>
              <a:t>.</a:t>
            </a:r>
          </a:p>
          <a:p>
            <a:pPr lvl="1"/>
            <a:r>
              <a:rPr/>
              <a:t>Each row summarizes </a:t>
            </a:r>
            <a:r>
              <a:rPr b="1"/>
              <a:t>30 seconds</a:t>
            </a:r>
            <a:r>
              <a:rPr/>
              <a:t> of activity data.</a:t>
            </a:r>
          </a:p>
          <a:p>
            <a:pPr lvl="1"/>
            <a:r>
              <a:rPr/>
              <a:t>Fields include activity count, off-wrist indicator, light values, clock time, and wake indicator.</a:t>
            </a:r>
          </a:p>
          <a:p>
            <a:pPr lvl="0" marL="0" indent="0">
              <a:buNone/>
            </a:pPr>
            <a:r>
              <a:rPr/>
              <a:t>This aligns naturally with our planned 30-second feature epochs.</a:t>
            </a:r>
          </a:p>
          <a:p>
            <a:pPr lvl="0" marL="0" indent="0">
              <a:buNone/>
            </a:pPr>
            <a:r>
              <a:rPr/>
              <a:t>Source: </a:t>
            </a:r>
            <a:r>
              <a:rPr>
                <a:hlinkClick r:id="rId2"/>
              </a:rPr>
              <a:t>MESA actigraphy documentation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Reference</a:t>
            </a:r>
            <a:r>
              <a:rPr/>
              <a:t> </a:t>
            </a:r>
            <a:r>
              <a:rPr/>
              <a:t>labels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cardiovascular</a:t>
            </a:r>
            <a:r>
              <a:rPr/>
              <a:t> </a:t>
            </a:r>
            <a:r>
              <a:rPr/>
              <a:t>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PSG + ECG</a:t>
            </a:r>
          </a:p>
          <a:p>
            <a:pPr lvl="1"/>
            <a:r>
              <a:rPr/>
              <a:t>Raw PSG is available for </a:t>
            </a:r>
            <a:r>
              <a:rPr b="1"/>
              <a:t>2,056 participants</a:t>
            </a:r>
            <a:r>
              <a:rPr/>
              <a:t> with signal files and epoch-staging annotations.</a:t>
            </a:r>
          </a:p>
          <a:p>
            <a:pPr lvl="1"/>
            <a:r>
              <a:rPr/>
              <a:t>PSG annotations provide the reference sleep-stage labels.</a:t>
            </a:r>
          </a:p>
          <a:p>
            <a:pPr lvl="1"/>
            <a:r>
              <a:rPr/>
              <a:t>PSG includes ECG sampled at </a:t>
            </a:r>
            <a:r>
              <a:rPr b="1"/>
              <a:t>256 Hz</a:t>
            </a:r>
            <a:r>
              <a:rPr/>
              <a:t>; the dataset also documents heart-rate and HRV-related analysis resources.</a:t>
            </a:r>
          </a:p>
          <a:p>
            <a:pPr lvl="1"/>
            <a:r>
              <a:rPr/>
              <a:t>We will derive HR/IBI-compatible features, not use EEG as the deployed model input.</a:t>
            </a:r>
          </a:p>
          <a:p>
            <a:pPr lvl="0" marL="0" indent="0">
              <a:buNone/>
            </a:pPr>
            <a:r>
              <a:rPr/>
              <a:t>Source: </a:t>
            </a:r>
            <a:r>
              <a:rPr>
                <a:hlinkClick r:id="rId2"/>
              </a:rPr>
              <a:t>MESA PSG documentation</a:t>
            </a:r>
            <a:r>
              <a:rPr/>
              <a:t> and </a:t>
            </a:r>
            <a:r>
              <a:rPr>
                <a:hlinkClick r:id="rId3"/>
              </a:rPr>
              <a:t>equipment/sampling information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Building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aligned</a:t>
            </a:r>
            <a:r>
              <a:rPr/>
              <a:t> </a:t>
            </a:r>
            <a:r>
              <a:rPr/>
              <a:t>training</a:t>
            </a:r>
            <a:r>
              <a:rPr/>
              <a:t> </a:t>
            </a:r>
            <a:r>
              <a:rPr/>
              <a:t>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Inclusion and alignment rules</a:t>
            </a:r>
          </a:p>
          <a:p>
            <a:pPr lvl="1">
              <a:buAutoNum type="arabicPeriod"/>
            </a:pPr>
            <a:r>
              <a:rPr/>
              <a:t>Keep only participants with valid concurrent PSG and actigraphy.</a:t>
            </a:r>
          </a:p>
          <a:p>
            <a:pPr lvl="1">
              <a:buAutoNum type="arabicPeriod"/>
            </a:pPr>
            <a:r>
              <a:rPr/>
              <a:t>Use the MESA </a:t>
            </a:r>
            <a:r>
              <a:rPr>
                <a:latin typeface="Courier"/>
              </a:rPr>
              <a:t>match5</a:t>
            </a:r>
            <a:r>
              <a:rPr/>
              <a:t> alignment flag to identify concurrent recordings.</a:t>
            </a:r>
          </a:p>
          <a:p>
            <a:pPr lvl="1">
              <a:buAutoNum type="arabicPeriod"/>
            </a:pPr>
            <a:r>
              <a:rPr/>
              <a:t>Align PSG stage annotations to 30-second actigraphy epochs.</a:t>
            </a:r>
          </a:p>
          <a:p>
            <a:pPr lvl="1">
              <a:buAutoNum type="arabicPeriod"/>
            </a:pPr>
            <a:r>
              <a:rPr/>
              <a:t>Extract movement and cardiovascular features that match the Android feature contract.</a:t>
            </a:r>
          </a:p>
          <a:p>
            <a:pPr lvl="1">
              <a:buAutoNum type="arabicPeriod"/>
            </a:pPr>
            <a:r>
              <a:rPr/>
              <a:t>Exclude invalid/off-wrist epochs and record all exclusions.</a:t>
            </a:r>
          </a:p>
          <a:p>
            <a:pPr lvl="0" marL="0" indent="0">
              <a:buNone/>
            </a:pPr>
            <a:r>
              <a:rPr/>
              <a:t>The documented concurrent PSG/actigraphy subset contains </a:t>
            </a:r>
            <a:r>
              <a:rPr b="1"/>
              <a:t>1,798</a:t>
            </a:r>
            <a:r>
              <a:rPr/>
              <a:t> participants.</a:t>
            </a:r>
          </a:p>
          <a:p>
            <a:pPr lvl="0" marL="0" indent="0">
              <a:buNone/>
            </a:pPr>
            <a:r>
              <a:rPr/>
              <a:t>Source: </a:t>
            </a:r>
            <a:r>
              <a:rPr>
                <a:hlinkClick r:id="rId2"/>
              </a:rPr>
              <a:t>MESA </a:t>
            </a:r>
            <a:r>
              <a:rPr>
                <a:hlinkClick r:id="rId3"/>
                <a:latin typeface="Courier"/>
              </a:rPr>
              <a:t>match5</a:t>
            </a:r>
            <a:r>
              <a:rPr>
                <a:hlinkClick r:id="rId4"/>
              </a:rPr>
              <a:t> variable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Labels,</a:t>
            </a:r>
            <a:r>
              <a:rPr/>
              <a:t> </a:t>
            </a:r>
            <a:r>
              <a:rPr/>
              <a:t>features,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Planned data contract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Decision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Positive</a:t>
                      </a:r>
                      <a:r>
                        <a:rPr/>
                        <a:t> </a:t>
                      </a:r>
                      <a:r>
                        <a:rPr/>
                        <a:t>label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PSG</a:t>
                      </a:r>
                      <a:r>
                        <a:rPr/>
                        <a:t> </a:t>
                      </a:r>
                      <a:r>
                        <a:rPr/>
                        <a:t>reference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LIGHT</a:t>
                      </a:r>
                      <a:r>
                        <a:rPr/>
                        <a:t> </a:t>
                      </a:r>
                      <a:r>
                        <a:rPr/>
                        <a:t>sleep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Negative</a:t>
                      </a:r>
                      <a:r>
                        <a:rPr/>
                        <a:t> </a:t>
                      </a:r>
                      <a:r>
                        <a:rPr/>
                        <a:t>label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Awake,</a:t>
                      </a:r>
                      <a:r>
                        <a:rPr/>
                        <a:t> </a:t>
                      </a:r>
                      <a:r>
                        <a:rPr/>
                        <a:t>deep,</a:t>
                      </a:r>
                      <a:r>
                        <a:rPr/>
                        <a:t> </a:t>
                      </a:r>
                      <a:r>
                        <a:rPr/>
                        <a:t>REM,</a:t>
                      </a:r>
                      <a:r>
                        <a:rPr/>
                        <a:t> </a:t>
                      </a:r>
                      <a:r>
                        <a:rPr/>
                        <a:t>unavailable,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excluded</a:t>
                      </a:r>
                      <a:r>
                        <a:rPr/>
                        <a:t> </a:t>
                      </a:r>
                      <a:r>
                        <a:rPr/>
                        <a:t>state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Epoch</a:t>
                      </a:r>
                      <a:r>
                        <a:rPr/>
                        <a:t> </a:t>
                      </a:r>
                      <a:r>
                        <a:rPr/>
                        <a:t>length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30</a:t>
                      </a:r>
                      <a:r>
                        <a:rPr/>
                        <a:t> </a:t>
                      </a:r>
                      <a:r>
                        <a:rPr/>
                        <a:t>seconds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</a:t>
                      </a:r>
                      <a:r>
                        <a:rPr/>
                        <a:t> </a:t>
                      </a:r>
                      <a:r>
                        <a:rPr/>
                        <a:t>families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Motion</a:t>
                      </a:r>
                      <a:r>
                        <a:rPr/>
                        <a:t> </a:t>
                      </a:r>
                      <a:r>
                        <a:rPr/>
                        <a:t>magnitude/activity,</a:t>
                      </a:r>
                      <a:r>
                        <a:rPr/>
                        <a:t> </a:t>
                      </a:r>
                      <a:r>
                        <a:rPr/>
                        <a:t>HR,</a:t>
                      </a:r>
                      <a:r>
                        <a:rPr/>
                        <a:t> </a:t>
                      </a:r>
                      <a:r>
                        <a:rPr/>
                        <a:t>IBI/HRV,</a:t>
                      </a:r>
                      <a:r>
                        <a:rPr/>
                        <a:t> </a:t>
                      </a:r>
                      <a:r>
                        <a:rPr/>
                        <a:t>valid-sample</a:t>
                      </a:r>
                      <a:r>
                        <a:rPr/>
                        <a:t> </a:t>
                      </a:r>
                      <a:r>
                        <a:rPr/>
                        <a:t>ratio,</a:t>
                      </a:r>
                      <a:r>
                        <a:rPr/>
                        <a:t> </a:t>
                      </a:r>
                      <a:r>
                        <a:rPr/>
                        <a:t>off-body</a:t>
                      </a:r>
                      <a:r>
                        <a:rPr/>
                        <a:t> </a:t>
                      </a:r>
                      <a:r>
                        <a:rPr/>
                        <a:t>state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Split</a:t>
                      </a:r>
                      <a:r>
                        <a:rPr/>
                        <a:t> </a:t>
                      </a:r>
                      <a:r>
                        <a:rPr/>
                        <a:t>rule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Subject-level</a:t>
                      </a:r>
                      <a:r>
                        <a:rPr/>
                        <a:t> </a:t>
                      </a:r>
                      <a:r>
                        <a:rPr/>
                        <a:t>train/validation/test</a:t>
                      </a:r>
                      <a:r>
                        <a:rPr/>
                        <a:t> </a:t>
                      </a:r>
                      <a:r>
                        <a:rPr/>
                        <a:t>split;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participant</a:t>
                      </a:r>
                      <a:r>
                        <a:rPr/>
                        <a:t> </a:t>
                      </a:r>
                      <a:r>
                        <a:rPr/>
                        <a:t>appears</a:t>
                      </a:r>
                      <a:r>
                        <a:rPr/>
                        <a:t> </a:t>
                      </a:r>
                      <a:r>
                        <a:rPr/>
                        <a:t>in</a:t>
                      </a:r>
                      <a:r>
                        <a:rPr/>
                        <a:t> </a:t>
                      </a:r>
                      <a:r>
                        <a:rPr/>
                        <a:t>more</a:t>
                      </a:r>
                      <a:r>
                        <a:rPr/>
                        <a:t> </a:t>
                      </a:r>
                      <a:r>
                        <a:rPr/>
                        <a:t>than</a:t>
                      </a:r>
                      <a:r>
                        <a:rPr/>
                        <a:t> </a:t>
                      </a:r>
                      <a:r>
                        <a:rPr/>
                        <a:t>one</a:t>
                      </a:r>
                      <a:r>
                        <a:rPr/>
                        <a:t> </a:t>
                      </a:r>
                      <a:r>
                        <a:rPr/>
                        <a:t>split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Logistic-regression</a:t>
                      </a:r>
                      <a:r>
                        <a:rPr/>
                        <a:t> </a:t>
                      </a:r>
                      <a:r>
                        <a:rPr/>
                        <a:t>baseline,</a:t>
                      </a:r>
                      <a:r>
                        <a:rPr/>
                        <a:t> </a:t>
                      </a:r>
                      <a:r>
                        <a:rPr/>
                        <a:t>CNN-GRU,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CNN-LSTM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Important</a:t>
            </a:r>
            <a:r>
              <a:rPr/>
              <a:t> </a:t>
            </a:r>
            <a:r>
              <a:rPr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What we will and will not claim</a:t>
            </a:r>
          </a:p>
          <a:p>
            <a:pPr lvl="1"/>
            <a:r>
              <a:rPr/>
              <a:t>MESA devices are not identical to Galaxy Watch4 sensors: actigraphy is not raw three-axis Watch accelerometer data, and PSG ECG is not Watch PPG.</a:t>
            </a:r>
          </a:p>
          <a:p>
            <a:pPr lvl="1"/>
            <a:r>
              <a:rPr/>
              <a:t>Therefore this is a feature-compatibility training approach, not sensor-equivalence proof.</a:t>
            </a:r>
          </a:p>
          <a:p>
            <a:pPr lvl="1"/>
            <a:r>
              <a:rPr/>
              <a:t>PSG staging supplies reference labels; the deployed app still reports only a likely light-sleep wellness estimate.</a:t>
            </a:r>
          </a:p>
          <a:p>
            <a:pPr lvl="1"/>
            <a:r>
              <a:rPr/>
              <a:t>Dataset access, licence/terms, files, and exact stage mapping must be verified before downloading or training.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Current</a:t>
            </a:r>
            <a:r>
              <a:rPr/>
              <a:t> </a:t>
            </a:r>
            <a:r>
              <a:rPr/>
              <a:t>status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next</a:t>
            </a:r>
            <a:r>
              <a:rPr/>
              <a:t> </a:t>
            </a:r>
            <a:r>
              <a:rPr/>
              <a:t>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Honest project status</a:t>
            </a:r>
          </a:p>
          <a:p>
            <a:pPr lvl="1"/>
            <a:r>
              <a:rPr/>
              <a:t>Dataset choice: </a:t>
            </a:r>
            <a:r>
              <a:rPr b="1"/>
              <a:t>MESA Sleep proposed and documented</a:t>
            </a:r>
            <a:r>
              <a:rPr/>
              <a:t>.</a:t>
            </a:r>
          </a:p>
          <a:p>
            <a:pPr lvl="1"/>
            <a:r>
              <a:rPr/>
              <a:t>Training data: </a:t>
            </a:r>
            <a:r>
              <a:rPr b="1"/>
              <a:t>not downloaded or used yet</a:t>
            </a:r>
            <a:r>
              <a:rPr/>
              <a:t>.</a:t>
            </a:r>
          </a:p>
          <a:p>
            <a:pPr lvl="1"/>
            <a:r>
              <a:rPr/>
              <a:t>Required next action: submit/complete the NSRR data-access request, record access date and terms, then verify files and label definitions.</a:t>
            </a:r>
          </a:p>
          <a:p>
            <a:pPr lvl="1"/>
            <a:r>
              <a:rPr/>
              <a:t>Development next: finish Task 6’s exact Android feature contract, then implement the reproducible MESA preprocessing pipeline and subject-level split.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NSRR MESA Sleep dataset</a:t>
            </a:r>
          </a:p>
          <a:p>
            <a:pPr lvl="1"/>
            <a:r>
              <a:rPr>
                <a:hlinkClick r:id="rId3"/>
              </a:rPr>
              <a:t>MESA actigraphy introduction</a:t>
            </a:r>
          </a:p>
          <a:p>
            <a:pPr lvl="1"/>
            <a:r>
              <a:rPr>
                <a:hlinkClick r:id="rId4"/>
              </a:rPr>
              <a:t>MESA polysomnography introduction</a:t>
            </a:r>
          </a:p>
          <a:p>
            <a:pPr lvl="1"/>
            <a:r>
              <a:rPr>
                <a:hlinkClick r:id="rId5"/>
              </a:rPr>
              <a:t>MESA equipment and sampling rates</a:t>
            </a:r>
          </a:p>
          <a:p>
            <a:pPr lvl="1"/>
            <a:r>
              <a:rPr>
                <a:hlinkClick r:id="rId6"/>
              </a:rPr>
              <a:t>MESA PSG/actigraphy overlap variable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Sleep Alarm: Proposed Training Data</dc:title>
  <dc:creator>ABA Project Team</dc:creator>
  <cp:keywords/>
  <dcterms:created xsi:type="dcterms:W3CDTF">2026-08-24T14:42:41Z</dcterms:created>
  <dcterms:modified xsi:type="dcterms:W3CDTF">2026-08-24T14:42:41Z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24 August 2026</vt:lpwstr>
  </property>
</Properties>
</file>